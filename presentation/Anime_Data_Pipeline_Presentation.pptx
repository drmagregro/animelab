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96BA83-E878-4043-AB11-5CF64F3172FD}" v="8" dt="2026-03-27T10:35:13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wann Gao" userId="06b7446e6907ec2e" providerId="LiveId" clId="{10D5FF51-50B5-4A20-AB95-738E7F0E4570}"/>
    <pc:docChg chg="undo custSel modSld">
      <pc:chgData name="Erwann Gao" userId="06b7446e6907ec2e" providerId="LiveId" clId="{10D5FF51-50B5-4A20-AB95-738E7F0E4570}" dt="2026-03-27T13:14:14.033" v="135" actId="20577"/>
      <pc:docMkLst>
        <pc:docMk/>
      </pc:docMkLst>
      <pc:sldChg chg="modSp mod">
        <pc:chgData name="Erwann Gao" userId="06b7446e6907ec2e" providerId="LiveId" clId="{10D5FF51-50B5-4A20-AB95-738E7F0E4570}" dt="2026-03-27T13:13:30.898" v="113" actId="20577"/>
        <pc:sldMkLst>
          <pc:docMk/>
          <pc:sldMk cId="0" sldId="259"/>
        </pc:sldMkLst>
        <pc:spChg chg="mod">
          <ac:chgData name="Erwann Gao" userId="06b7446e6907ec2e" providerId="LiveId" clId="{10D5FF51-50B5-4A20-AB95-738E7F0E4570}" dt="2026-03-27T13:13:30.898" v="113" actId="20577"/>
          <ac:spMkLst>
            <pc:docMk/>
            <pc:sldMk cId="0" sldId="259"/>
            <ac:spMk id="20" creationId="{00000000-0000-0000-0000-000000000000}"/>
          </ac:spMkLst>
        </pc:spChg>
      </pc:sldChg>
      <pc:sldChg chg="modSp mod">
        <pc:chgData name="Erwann Gao" userId="06b7446e6907ec2e" providerId="LiveId" clId="{10D5FF51-50B5-4A20-AB95-738E7F0E4570}" dt="2026-03-27T09:44:29.924" v="9" actId="20577"/>
        <pc:sldMkLst>
          <pc:docMk/>
          <pc:sldMk cId="0" sldId="261"/>
        </pc:sldMkLst>
        <pc:spChg chg="mod">
          <ac:chgData name="Erwann Gao" userId="06b7446e6907ec2e" providerId="LiveId" clId="{10D5FF51-50B5-4A20-AB95-738E7F0E4570}" dt="2026-03-27T09:44:29.924" v="9" actId="20577"/>
          <ac:spMkLst>
            <pc:docMk/>
            <pc:sldMk cId="0" sldId="261"/>
            <ac:spMk id="10" creationId="{00000000-0000-0000-0000-000000000000}"/>
          </ac:spMkLst>
        </pc:spChg>
      </pc:sldChg>
      <pc:sldChg chg="modSp mod">
        <pc:chgData name="Erwann Gao" userId="06b7446e6907ec2e" providerId="LiveId" clId="{10D5FF51-50B5-4A20-AB95-738E7F0E4570}" dt="2026-03-27T13:14:14.033" v="135" actId="20577"/>
        <pc:sldMkLst>
          <pc:docMk/>
          <pc:sldMk cId="0" sldId="263"/>
        </pc:sldMkLst>
        <pc:spChg chg="mod">
          <ac:chgData name="Erwann Gao" userId="06b7446e6907ec2e" providerId="LiveId" clId="{10D5FF51-50B5-4A20-AB95-738E7F0E4570}" dt="2026-03-27T13:14:14.033" v="135" actId="20577"/>
          <ac:spMkLst>
            <pc:docMk/>
            <pc:sldMk cId="0" sldId="263"/>
            <ac:spMk id="18" creationId="{00000000-0000-0000-0000-000000000000}"/>
          </ac:spMkLst>
        </pc:spChg>
      </pc:sldChg>
      <pc:sldChg chg="modSp mod">
        <pc:chgData name="Erwann Gao" userId="06b7446e6907ec2e" providerId="LiveId" clId="{10D5FF51-50B5-4A20-AB95-738E7F0E4570}" dt="2026-03-27T12:39:30.028" v="96" actId="20577"/>
        <pc:sldMkLst>
          <pc:docMk/>
          <pc:sldMk cId="0" sldId="266"/>
        </pc:sldMkLst>
        <pc:spChg chg="mod">
          <ac:chgData name="Erwann Gao" userId="06b7446e6907ec2e" providerId="LiveId" clId="{10D5FF51-50B5-4A20-AB95-738E7F0E4570}" dt="2026-03-27T10:32:48.959" v="40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Erwann Gao" userId="06b7446e6907ec2e" providerId="LiveId" clId="{10D5FF51-50B5-4A20-AB95-738E7F0E4570}" dt="2026-03-27T10:28:33.346" v="14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Erwann Gao" userId="06b7446e6907ec2e" providerId="LiveId" clId="{10D5FF51-50B5-4A20-AB95-738E7F0E4570}" dt="2026-03-27T10:32:59.580" v="43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Erwann Gao" userId="06b7446e6907ec2e" providerId="LiveId" clId="{10D5FF51-50B5-4A20-AB95-738E7F0E4570}" dt="2026-03-27T10:33:11.285" v="56" actId="20577"/>
          <ac:spMkLst>
            <pc:docMk/>
            <pc:sldMk cId="0" sldId="266"/>
            <ac:spMk id="10" creationId="{00000000-0000-0000-0000-000000000000}"/>
          </ac:spMkLst>
        </pc:spChg>
        <pc:spChg chg="mod">
          <ac:chgData name="Erwann Gao" userId="06b7446e6907ec2e" providerId="LiveId" clId="{10D5FF51-50B5-4A20-AB95-738E7F0E4570}" dt="2026-03-27T10:33:51.692" v="73" actId="21"/>
          <ac:spMkLst>
            <pc:docMk/>
            <pc:sldMk cId="0" sldId="266"/>
            <ac:spMk id="11" creationId="{00000000-0000-0000-0000-000000000000}"/>
          </ac:spMkLst>
        </pc:spChg>
        <pc:spChg chg="mod">
          <ac:chgData name="Erwann Gao" userId="06b7446e6907ec2e" providerId="LiveId" clId="{10D5FF51-50B5-4A20-AB95-738E7F0E4570}" dt="2026-03-27T10:35:13.639" v="84"/>
          <ac:spMkLst>
            <pc:docMk/>
            <pc:sldMk cId="0" sldId="266"/>
            <ac:spMk id="13" creationId="{00000000-0000-0000-0000-000000000000}"/>
          </ac:spMkLst>
        </pc:spChg>
        <pc:spChg chg="mod ord">
          <ac:chgData name="Erwann Gao" userId="06b7446e6907ec2e" providerId="LiveId" clId="{10D5FF51-50B5-4A20-AB95-738E7F0E4570}" dt="2026-03-27T10:33:00.642" v="47" actId="167"/>
          <ac:spMkLst>
            <pc:docMk/>
            <pc:sldMk cId="0" sldId="266"/>
            <ac:spMk id="14" creationId="{00000000-0000-0000-0000-000000000000}"/>
          </ac:spMkLst>
        </pc:spChg>
        <pc:spChg chg="mod">
          <ac:chgData name="Erwann Gao" userId="06b7446e6907ec2e" providerId="LiveId" clId="{10D5FF51-50B5-4A20-AB95-738E7F0E4570}" dt="2026-03-27T10:33:40.139" v="71" actId="2057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Erwann Gao" userId="06b7446e6907ec2e" providerId="LiveId" clId="{10D5FF51-50B5-4A20-AB95-738E7F0E4570}" dt="2026-03-27T10:33:54.537" v="74"/>
          <ac:spMkLst>
            <pc:docMk/>
            <pc:sldMk cId="0" sldId="266"/>
            <ac:spMk id="17" creationId="{00000000-0000-0000-0000-000000000000}"/>
          </ac:spMkLst>
        </pc:spChg>
        <pc:spChg chg="mod">
          <ac:chgData name="Erwann Gao" userId="06b7446e6907ec2e" providerId="LiveId" clId="{10D5FF51-50B5-4A20-AB95-738E7F0E4570}" dt="2026-03-27T10:35:09.659" v="83" actId="21"/>
          <ac:spMkLst>
            <pc:docMk/>
            <pc:sldMk cId="0" sldId="266"/>
            <ac:spMk id="19" creationId="{00000000-0000-0000-0000-000000000000}"/>
          </ac:spMkLst>
        </pc:spChg>
        <pc:spChg chg="mod">
          <ac:chgData name="Erwann Gao" userId="06b7446e6907ec2e" providerId="LiveId" clId="{10D5FF51-50B5-4A20-AB95-738E7F0E4570}" dt="2026-03-27T12:39:30.028" v="96" actId="20577"/>
          <ac:spMkLst>
            <pc:docMk/>
            <pc:sldMk cId="0" sldId="266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454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00B4D8"/>
                </a:solidFill>
              </a:rPr>
              <a:t>ANIME DATA PIPELINE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0F6FC"/>
                </a:solidFill>
              </a:rPr>
              <a:t>Du CSV brut à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0F6FC"/>
                </a:solidFill>
              </a:rPr>
              <a:t>Elasticsearch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</a:rPr>
              <a:t>Audit · Nettoyage · Feature Engineering · ELK Stack · Apache Airflow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308506" cy="237744"/>
          </a:xfrm>
          <a:prstGeom prst="rect">
            <a:avLst/>
          </a:prstGeom>
          <a:solidFill>
            <a:srgbClr val="161B22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1308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A261"/>
                </a:solidFill>
              </a:rPr>
              <a:t>Lun. 23/03 AM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48586" y="3566160"/>
            <a:ext cx="1308506" cy="237744"/>
          </a:xfrm>
          <a:prstGeom prst="rect">
            <a:avLst/>
          </a:prstGeom>
          <a:solidFill>
            <a:srgbClr val="161B22"/>
          </a:solidFill>
          <a:ln w="9525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948586" y="3566160"/>
            <a:ext cx="1308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A043"/>
                </a:solidFill>
              </a:rPr>
              <a:t>Mar. 24/03 AM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348533" y="3566160"/>
            <a:ext cx="1308506" cy="237744"/>
          </a:xfrm>
          <a:prstGeom prst="rect">
            <a:avLst/>
          </a:prstGeom>
          <a:solidFill>
            <a:srgbClr val="161B22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348533" y="3566160"/>
            <a:ext cx="13085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5CF6"/>
                </a:solidFill>
              </a:rPr>
              <a:t>Mar. 24/03 PM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48479" y="3566160"/>
            <a:ext cx="1069848" cy="237744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48479" y="3566160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</a:rPr>
              <a:t>Mer. 25/03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09767" y="3566160"/>
            <a:ext cx="1069848" cy="237744"/>
          </a:xfrm>
          <a:prstGeom prst="rect">
            <a:avLst/>
          </a:prstGeom>
          <a:solidFill>
            <a:srgbClr val="161B22"/>
          </a:solidFill>
          <a:ln w="9525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09767" y="3566160"/>
            <a:ext cx="1069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77B6"/>
                </a:solidFill>
              </a:rPr>
              <a:t>Jeu. 26/03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681"/>
                </a:solidFill>
              </a:rPr>
              <a:t>7 sessions · 3h30 chacune · 24h30 de formation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0" y="5079492"/>
            <a:ext cx="1306286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306286" y="5079492"/>
            <a:ext cx="1306286" cy="6400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612571" y="5079492"/>
            <a:ext cx="1306286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918857" y="5079492"/>
            <a:ext cx="1306286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225143" y="5079492"/>
            <a:ext cx="1306286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531429" y="5079492"/>
            <a:ext cx="1306286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7837714" y="5079492"/>
            <a:ext cx="1306286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kern="0" spc="200" dirty="0">
                <a:solidFill>
                  <a:srgbClr val="00B4D8"/>
                </a:solidFill>
              </a:rPr>
              <a:t>VUE D'ENSEMBLE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E7681"/>
                </a:solidFill>
              </a:rPr>
              <a:t>Agenda complet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</a:rPr>
              <a:t>Programme de la semaine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7 sessions — 3 thèmes — 1 pipeline complet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850392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50292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Lun. 23/03 — PM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31720" y="1417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</a:rPr>
              <a:t>Audit &amp; Découverte du dataset brut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66560" y="14813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A261"/>
                </a:solidFill>
              </a:rPr>
              <a:t>Data Refinement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275320" y="14813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7681"/>
                </a:solidFill>
              </a:rPr>
              <a:t>3h30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888236"/>
            <a:ext cx="850392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" y="1888236"/>
            <a:ext cx="50292" cy="4572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11480" y="19339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A043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19339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Mar. 24/03 — 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31720" y="19339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</a:rPr>
              <a:t>Nettoyage, enrichissement &amp; Feature Engineering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66560" y="19979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EA043"/>
                </a:solidFill>
              </a:rPr>
              <a:t>Data Refinement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275320" y="199796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7681"/>
                </a:solidFill>
              </a:rPr>
              <a:t>3h30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404872"/>
            <a:ext cx="850392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" y="2404872"/>
            <a:ext cx="50292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11480" y="24505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24505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Mar. 24/03 — PM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31720" y="2450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</a:rPr>
              <a:t>Découverte de la stack ELK &amp; Indexation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66560" y="2514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5CF6"/>
                </a:solidFill>
              </a:rPr>
              <a:t>Big Data — ELK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275320" y="25146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7681"/>
                </a:solidFill>
              </a:rPr>
              <a:t>3h30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2921508"/>
            <a:ext cx="850392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2921508"/>
            <a:ext cx="50292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11480" y="29672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29672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Mer. 25/03 — AM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331720" y="29672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</a:rPr>
              <a:t>Introduction à Apache Airflow &amp; Premier DAG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66560" y="30312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</a:rPr>
              <a:t>ETL &amp; Pipelines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275320" y="303123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7681"/>
                </a:solidFill>
              </a:rPr>
              <a:t>3h30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438144"/>
            <a:ext cx="850392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320040" y="3438144"/>
            <a:ext cx="50292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11480" y="34838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" y="34838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Mer. 25/03 — PM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331720" y="34838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</a:rPr>
              <a:t>Pipeline Extract : lecture multi-fichiers &amp; validation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766560" y="35478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D8"/>
                </a:solidFill>
              </a:rPr>
              <a:t>ETL &amp; Pipelines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275320" y="35478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7681"/>
                </a:solidFill>
              </a:rPr>
              <a:t>3h30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" y="3954780"/>
            <a:ext cx="850392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320040" y="3954780"/>
            <a:ext cx="50292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11480" y="40005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B6"/>
                </a:solidFill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1520" y="40005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Jeu. 26/03 — AM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331720" y="40005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</a:rPr>
              <a:t>Pipeline Transform : nettoyage &amp; feature engineering auto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766560" y="40645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77B6"/>
                </a:solidFill>
              </a:rPr>
              <a:t>ETL &amp; Pipelines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275320" y="40645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7681"/>
                </a:solidFill>
              </a:rPr>
              <a:t>3h30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4471416"/>
            <a:ext cx="850392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320040" y="4471416"/>
            <a:ext cx="50292" cy="4572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411480" y="45171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</a:rPr>
              <a:t>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31520" y="45171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Jeu. 26/03 — PM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331720" y="45171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</a:rPr>
              <a:t>Pipeline Load : indexation Elasticsearch &amp; monitoring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766560" y="45811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87171"/>
                </a:solidFill>
              </a:rPr>
              <a:t>ETL &amp; Pipelines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8275320" y="45811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E7681"/>
                </a:solidFill>
              </a:rPr>
              <a:t>3h30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D05"/>
          </a:solidFill>
          <a:ln w="12700">
            <a:solidFill>
              <a:srgbClr val="0F0D0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F4A261"/>
                </a:solidFill>
              </a:rPr>
              <a:t>SESSION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6FC"/>
                </a:solidFill>
              </a:rPr>
              <a:t>Audit &amp; Découverte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6FC"/>
                </a:solidFill>
              </a:rPr>
              <a:t>du Dataset Brut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</a:rPr>
              <a:t>Comprendre les données avant de les transformer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560320" cy="320040"/>
          </a:xfrm>
          <a:prstGeom prst="rect">
            <a:avLst/>
          </a:prstGeom>
          <a:solidFill>
            <a:srgbClr val="161B22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A261"/>
                </a:solidFill>
              </a:rPr>
              <a:t>Lundi 23/03 — PM  ·  3h30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9184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E7681"/>
                </a:solidFill>
              </a:rPr>
              <a:t>DATA REFINEMENT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F4A261">
              <a:alpha val="10000"/>
            </a:srgbClr>
          </a:solidFill>
          <a:ln w="12700">
            <a:solidFill>
              <a:srgbClr val="F4A26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kern="0" spc="200" dirty="0">
                <a:solidFill>
                  <a:srgbClr val="F4A261"/>
                </a:solidFill>
              </a:rPr>
              <a:t>DATA REFINEMENT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E7681"/>
                </a:solidFill>
              </a:rPr>
              <a:t>Session 1 · Lundi 23/03 PM · 13h30–17h00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</a:rPr>
              <a:t>Les 3 sources de données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Dataset MyAnimeList — ~12 000 anime, 73 000 utilisateurs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850392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54864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anime.csv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</a:rPr>
              <a:t>Catalogue principal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15727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anime_id, name, genre, type, episodes, rating, members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514600"/>
            <a:ext cx="850392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54864" cy="10058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02920" y="2624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A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anime_with_synopsis.csv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</a:rPr>
              <a:t>Descriptions enrichies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27157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MAL_ID, Name, Synopsis, Genres, Premiered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657600"/>
            <a:ext cx="850392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3657600"/>
            <a:ext cx="54864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02920" y="3767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rating_complete.csv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</a:rPr>
              <a:t>Notations communauté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38587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user_id, anime_id, rating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kern="0" spc="200" dirty="0">
                <a:solidFill>
                  <a:srgbClr val="F4A261"/>
                </a:solidFill>
              </a:rPr>
              <a:t>DATA REFINEMENT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E7681"/>
                </a:solidFill>
              </a:rPr>
              <a:t>Session 1 · Audit de qualité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</a:rPr>
              <a:t>Métriques d'audit collectées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Chaque CSV est analysé selon 5 dimensions de qualité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2697480" cy="1234440"/>
          </a:xfrm>
          <a:prstGeom prst="rect">
            <a:avLst/>
          </a:prstGeom>
          <a:solidFill>
            <a:srgbClr val="161B22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54864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</a:rPr>
              <a:t>Valeurs manquantes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% par colonne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→ Seuil d'alerte &gt; 50%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97480" cy="1234440"/>
          </a:xfrm>
          <a:prstGeom prst="rect">
            <a:avLst/>
          </a:prstGeom>
          <a:solidFill>
            <a:srgbClr val="161B22"/>
          </a:solidFill>
          <a:ln w="9525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54864" cy="12344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33756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</a:rPr>
              <a:t>Doublons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3756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Lignes identiques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→ Dédup sur anime_id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417320"/>
            <a:ext cx="2697480" cy="1234440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21792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</a:rPr>
              <a:t>Types de données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Détection automatique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Pandas dtypes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697480" cy="1234440"/>
          </a:xfrm>
          <a:prstGeom prst="rect">
            <a:avLst/>
          </a:prstGeom>
          <a:solidFill>
            <a:srgbClr val="161B22"/>
          </a:solidFill>
          <a:ln w="9525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54864" cy="123444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</a:rPr>
              <a:t>Distribution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Statistiques descriptives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min / max / moyenne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697480" cy="1234440"/>
          </a:xfrm>
          <a:prstGeom prst="rect">
            <a:avLst/>
          </a:prstGeom>
          <a:solidFill>
            <a:srgbClr val="161B22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0" y="2834640"/>
            <a:ext cx="54864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33756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</a:rPr>
              <a:t>Cohérence inter-fichiers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3756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IDs communs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Anime sans synopsis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2834640"/>
            <a:ext cx="2697480" cy="1234440"/>
          </a:xfrm>
          <a:prstGeom prst="rect">
            <a:avLst/>
          </a:prstGeom>
          <a:solidFill>
            <a:srgbClr val="161B22"/>
          </a:solidFill>
          <a:ln w="9525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080760" y="2834640"/>
            <a:ext cx="54864" cy="1234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21792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</a:rPr>
              <a:t>Volumétrie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17920" y="33375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Taille mémoire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Nb lignes × colonnes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kern="0" spc="200" dirty="0">
                <a:solidFill>
                  <a:srgbClr val="F4A261"/>
                </a:solidFill>
              </a:rPr>
              <a:t>DATA REFINEMENT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E7681"/>
                </a:solidFill>
              </a:rPr>
              <a:t>Session 1 · Rapport d'audit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</a:rPr>
              <a:t>Rapport d'audit — audit_report.json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Sortie structurée : métriques + alertes + contrôles croisés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663440" cy="3520440"/>
          </a:xfrm>
          <a:prstGeom prst="rect">
            <a:avLst/>
          </a:prstGeom>
          <a:solidFill>
            <a:srgbClr val="161B22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54864" cy="3520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5488" y="2244852"/>
            <a:ext cx="437083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8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800" dirty="0">
                <a:solidFill>
                  <a:srgbClr val="AD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"anime": {
</a:t>
            </a: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"rows": </a:t>
            </a: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12294</a:t>
            </a: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"duplicates": </a:t>
            </a:r>
            <a:endParaRPr lang="en-US" sz="8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00" dirty="0">
                <a:solidFill>
                  <a:srgbClr val="2EA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"null_pct": {</a:t>
            </a:r>
            <a:endParaRPr lang="en-US" sz="8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"rating": </a:t>
            </a:r>
            <a:r>
              <a:rPr lang="en-US" sz="8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28.3</a:t>
            </a: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"episodes": </a:t>
            </a:r>
            <a:r>
              <a:rPr lang="en-US" sz="800" dirty="0">
                <a:solidFill>
                  <a:srgbClr val="2EA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</a:t>
            </a: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}
  },
</a:t>
            </a:r>
            <a:r>
              <a:rPr lang="en-US" sz="800" dirty="0">
                <a:solidFill>
                  <a:srgbClr val="AD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"cross_checks": {
</a:t>
            </a: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"anime_with_synopsis": </a:t>
            </a:r>
            <a:r>
              <a:rPr lang="en-US" sz="8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11680</a:t>
            </a: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"rated_not_in_catalog": </a:t>
            </a: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8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166360" y="1371600"/>
            <a:ext cx="3657600" cy="713232"/>
          </a:xfrm>
          <a:prstGeom prst="rect">
            <a:avLst/>
          </a:prstGeom>
          <a:solidFill>
            <a:srgbClr val="161B22"/>
          </a:solidFill>
          <a:ln w="9525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166360" y="1371600"/>
            <a:ext cx="54864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34924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7171"/>
                </a:solidFill>
              </a:rPr>
              <a:t>28.3%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15361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de ratings manquants dans anime.csv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66360" y="2212848"/>
            <a:ext cx="3657600" cy="713232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166360" y="2212848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349240" y="23042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</a:rPr>
              <a:t>73 515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377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utilisateurs uniques dans rating.csv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66360" y="3054096"/>
            <a:ext cx="3657600" cy="713232"/>
          </a:xfrm>
          <a:prstGeom prst="rect">
            <a:avLst/>
          </a:prstGeom>
          <a:solidFill>
            <a:srgbClr val="161B22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166360" y="3054096"/>
            <a:ext cx="54864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349240" y="314553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</a:rPr>
              <a:t>47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32186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anime notés hors catalogue principal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66360" y="3895344"/>
            <a:ext cx="3657600" cy="713232"/>
          </a:xfrm>
          <a:prstGeom prst="rect">
            <a:avLst/>
          </a:prstGeom>
          <a:solidFill>
            <a:srgbClr val="161B22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166360" y="3895344"/>
            <a:ext cx="54864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349240" y="398678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CF6"/>
                </a:solidFill>
              </a:rPr>
              <a:t>-1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0" y="40599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valeur spéciale = "vu mais non noté"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7"/>
          </a:solidFill>
          <a:ln w="12700">
            <a:solidFill>
              <a:srgbClr val="050F0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2EA043"/>
                </a:solidFill>
              </a:rPr>
              <a:t>SESSION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6FC"/>
                </a:solidFill>
              </a:rPr>
              <a:t>Nettoyage, Enrichissement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6FC"/>
                </a:solidFill>
              </a:rPr>
              <a:t>&amp; Feature Engineering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</a:rPr>
              <a:t>Transformer les données brutes en données prêtes à l'emploi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560320" cy="320040"/>
          </a:xfrm>
          <a:prstGeom prst="rect">
            <a:avLst/>
          </a:prstGeom>
          <a:solidFill>
            <a:srgbClr val="161B22"/>
          </a:solidFill>
          <a:ln w="9525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A043"/>
                </a:solidFill>
              </a:rPr>
              <a:t>Mardi 24/03 — AM  ·  3h30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9184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E7681"/>
                </a:solidFill>
              </a:rPr>
              <a:t>DATA REFINEMENT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2EA043">
              <a:alpha val="10000"/>
            </a:srgbClr>
          </a:solidFill>
          <a:ln w="12700">
            <a:solidFill>
              <a:srgbClr val="2EA043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kern="0" spc="200" dirty="0">
                <a:solidFill>
                  <a:srgbClr val="2EA043"/>
                </a:solidFill>
              </a:rPr>
              <a:t>DATA REFINEMENT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E7681"/>
                </a:solidFill>
              </a:rPr>
              <a:t>Session 2 · Mardi 24/03 AM · 09h00–12h30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</a:rPr>
              <a:t>Pipeline de nettoyage par dataset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3 fichiers, 3 stratégies de nettoyage ciblées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8503920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54864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anime.csv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26080" y="146304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F4A261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Déduplication sur anime_id (keep='first')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F4A261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Genre : string → liste Python ["Action", "Drama"]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F4A261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episodes / rating → pd.to_numeric(errors='coerce')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F4A261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type → fillna('Unknown').str.upper()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560320"/>
            <a:ext cx="8503920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54864" cy="105156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A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anime_with_synopsis.csv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26080" y="26517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2EA043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Rename MAL_ID → anime_id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2EA043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Suppression "No synopsis information..."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2EA043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Strip whitespace + normalisation unicode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2EA043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Jointure préservée via left merge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749040"/>
            <a:ext cx="8503920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20040" y="3749040"/>
            <a:ext cx="54864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Rating_complete.csv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926080" y="384048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Exclusion des -1 (vu non noté)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Clip rating entre 1 et 10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Déduplication user_id × anime_id (keep='last')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Typage forcé int pour user_id, anime_id, rating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kern="0" spc="200" dirty="0">
                <a:solidFill>
                  <a:srgbClr val="2EA043"/>
                </a:solidFill>
              </a:rPr>
              <a:t>DATA REFINEMENT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E7681"/>
                </a:solidFill>
              </a:rPr>
              <a:t>Session 2 · Feature Engineering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</a:rPr>
              <a:t>Features créées — Enrichissement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4 nouvelles colonnes à valeur analytique élevée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850392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54864" cy="80467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A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quality_score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E7681"/>
                </a:solidFill>
              </a:rPr>
              <a:t>float [0–10]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97480" y="14630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A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 × 0.5 + user_mean × 0.3 + log(members)/log(max) × 10 × 0.2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97480" y="177393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Score composite pondéré combinant note officielle MAL, note communauté et popularité (log-normalisée)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267712"/>
            <a:ext cx="850392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54864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02920" y="2359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popularity_tier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724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E7681"/>
                </a:solidFill>
              </a:rPr>
              <a:t>catégorielle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97480" y="23591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blockbuster ≥500K | popular ≥100K | known ≥10K | niche ≥1K | obscure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97480" y="26700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Segmentation des anime en 5 niveaux de popularité selon le nombre de membres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163824"/>
            <a:ext cx="850392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3163824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3255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user_rating_stats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621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E7681"/>
                </a:solidFill>
              </a:rPr>
              <a:t>mean / count / std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97480" y="325526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ratings.groupby('anime_id')['rating'].agg(['mean','count','std'])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97480" y="35661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Agrégation des notations utilisateurs : permet de détecter les anime sur- ou sous-notés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059936"/>
            <a:ext cx="850392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20040" y="4059936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02920" y="4151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517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E7681"/>
                </a:solidFill>
              </a:rPr>
              <a:t>list[str]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97480" y="41513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Mapping genre → tag normalisé (ex: 'Sci-Fi' → 'sci-fi')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97480" y="44622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Tags normalisés prêts pour l'indexation Elasticsearch et la recherche full-text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614"/>
          </a:solidFill>
          <a:ln w="12700">
            <a:solidFill>
              <a:srgbClr val="0A061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8B5CF6"/>
                </a:solidFill>
              </a:rPr>
              <a:t>SESSION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6FC"/>
                </a:solidFill>
              </a:rPr>
              <a:t>Découverte de la Stack ELK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6FC"/>
                </a:solidFill>
              </a:rPr>
              <a:t>&amp; Indexation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</a:rPr>
              <a:t>Elasticsearch, Logstash, Kibana — du JSON à la recherche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560320" cy="320040"/>
          </a:xfrm>
          <a:prstGeom prst="rect">
            <a:avLst/>
          </a:prstGeom>
          <a:solidFill>
            <a:srgbClr val="161B22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5CF6"/>
                </a:solidFill>
              </a:rPr>
              <a:t>Mardi 24/03 — PM  ·  3h30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9184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E7681"/>
                </a:solidFill>
              </a:rPr>
              <a:t>BIG DATA — ELK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kern="0" spc="200" dirty="0">
                <a:solidFill>
                  <a:srgbClr val="8B5CF6"/>
                </a:solidFill>
              </a:rPr>
              <a:t>BIG DATA — ELK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E7681"/>
                </a:solidFill>
              </a:rPr>
              <a:t>Session 3 · Mardi 24/03 PM · 13h30–17h00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</a:rPr>
              <a:t>Architecture ELK Stack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Elasticsearch · Logstash · Kibana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2697480" cy="2194560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54864" cy="2194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Logstash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i="1" dirty="0">
                <a:solidFill>
                  <a:srgbClr val="8B949E"/>
                </a:solidFill>
              </a:rPr>
              <a:t>Ingestion &amp; transformation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2331720" cy="18288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2487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950" dirty="0">
                <a:solidFill>
                  <a:srgbClr val="8B949E"/>
                </a:solidFill>
              </a:rPr>
              <a:t>Input → Filter → Output</a:t>
            </a:r>
            <a:endParaRPr lang="en-US" sz="950" dirty="0"/>
          </a:p>
          <a:p>
            <a:pPr algn="ctr">
              <a:lnSpc>
                <a:spcPct val="150000"/>
              </a:lnSpc>
            </a:pPr>
            <a:r>
              <a:rPr lang="en-US" sz="950" dirty="0">
                <a:solidFill>
                  <a:srgbClr val="8B949E"/>
                </a:solidFill>
              </a:rPr>
              <a:t>Plugins CSV / JSON / Grok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417320"/>
            <a:ext cx="2697480" cy="2194560"/>
          </a:xfrm>
          <a:prstGeom prst="rect">
            <a:avLst/>
          </a:prstGeom>
          <a:solidFill>
            <a:srgbClr val="161B22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46120" y="1417320"/>
            <a:ext cx="54864" cy="2194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383280" y="16002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</a:rPr>
              <a:t>Elasticsearch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i="1" dirty="0" err="1">
                <a:solidFill>
                  <a:srgbClr val="8B949E"/>
                </a:solidFill>
              </a:rPr>
              <a:t>Moteur</a:t>
            </a:r>
            <a:r>
              <a:rPr lang="en-US" sz="1000" i="1" dirty="0">
                <a:solidFill>
                  <a:srgbClr val="8B949E"/>
                </a:solidFill>
              </a:rPr>
              <a:t> de recherche &amp; stockage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2377440"/>
            <a:ext cx="2331720" cy="18288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29000" y="2487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Index JSON · Shards · Replicas</a:t>
            </a:r>
            <a:endParaRPr lang="en-US" sz="950" dirty="0"/>
          </a:p>
          <a:p>
            <a:pPr algn="ctr">
              <a:lnSpc>
                <a:spcPct val="150000"/>
              </a:lnSpc>
            </a:pPr>
            <a:r>
              <a:rPr lang="en-US" sz="950" dirty="0" err="1">
                <a:solidFill>
                  <a:srgbClr val="8B949E"/>
                </a:solidFill>
              </a:rPr>
              <a:t>QueriesHTTP</a:t>
            </a:r>
            <a:r>
              <a:rPr lang="en-US" sz="950" dirty="0">
                <a:solidFill>
                  <a:srgbClr val="8B949E"/>
                </a:solidFill>
              </a:rPr>
              <a:t> REST API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1417320"/>
            <a:ext cx="2697480" cy="2194560"/>
          </a:xfrm>
          <a:prstGeom prst="rect">
            <a:avLst/>
          </a:prstGeom>
          <a:solidFill>
            <a:srgbClr val="161B22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126480" y="1417320"/>
            <a:ext cx="54864" cy="2194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263640" y="16002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4A261"/>
                </a:solidFill>
              </a:rPr>
              <a:t>Graana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</a:rPr>
              <a:t>Visualisation &amp; exploration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2377440"/>
            <a:ext cx="2331720" cy="18288"/>
          </a:xfrm>
          <a:prstGeom prst="rect">
            <a:avLst/>
          </a:prstGeom>
          <a:solidFill>
            <a:srgbClr val="F4A261">
              <a:alpha val="40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309360" y="2487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Dashboards · Dev Tools</a:t>
            </a:r>
            <a:endParaRPr lang="en-US" sz="95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Discover · Lens · Maps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017520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7681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897880" y="22860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7681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5760" y="3931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949E"/>
                </a:solidFill>
              </a:rPr>
              <a:t>Dans ce projet : anime_full.json → Logstash → Index Elasticsearch → Dashboards Kibana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kern="0" spc="200" dirty="0">
                <a:solidFill>
                  <a:srgbClr val="8B5CF6"/>
                </a:solidFill>
              </a:rPr>
              <a:t>BIG DATA — ELK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E7681"/>
                </a:solidFill>
              </a:rPr>
              <a:t>Session 3 · Mapping &amp; indexation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</a:rPr>
              <a:t>Mapping Elasticsearch — Index Anime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Schéma d'index optimisé pour la recherche full-text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846320" cy="3520440"/>
          </a:xfrm>
          <a:prstGeom prst="rect">
            <a:avLst/>
          </a:prstGeom>
          <a:solidFill>
            <a:srgbClr val="161B22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54864" cy="3520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4480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/anime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AD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"mappings": {
    "properties": {
</a:t>
            </a: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"anime_id": </a:t>
            </a:r>
            <a:r>
              <a:rPr lang="en-US" sz="950" dirty="0">
                <a:solidFill>
                  <a:srgbClr val="2EA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"integer" },
</a:t>
            </a: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</a:t>
            </a: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"text",
        "fields": { "keyword": {...} } },
</a:t>
            </a: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"genre": </a:t>
            </a:r>
            <a:r>
              <a:rPr lang="en-US" sz="950" dirty="0">
                <a:solidFill>
                  <a:srgbClr val="2EA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"keyword" },
</a:t>
            </a: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"synopsis": </a:t>
            </a: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"text",
        "analyzer": "french" },
</a:t>
            </a: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"quality_score":</a:t>
            </a: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"float" }
</a:t>
            </a: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49240" y="1371600"/>
            <a:ext cx="3474720" cy="713232"/>
          </a:xfrm>
          <a:prstGeom prst="rect">
            <a:avLst/>
          </a:prstGeom>
          <a:solidFill>
            <a:srgbClr val="161B22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349240" y="1371600"/>
            <a:ext cx="54864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53212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Dev 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2120" y="17739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Requêtes DSL directes sur l'index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49240" y="2212848"/>
            <a:ext cx="3474720" cy="713232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349240" y="2212848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532120" y="2304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Discover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261518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Exploration des documents indexés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49240" y="3054096"/>
            <a:ext cx="3474720" cy="713232"/>
          </a:xfrm>
          <a:prstGeom prst="rect">
            <a:avLst/>
          </a:prstGeom>
          <a:solidFill>
            <a:srgbClr val="161B22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349240" y="3054096"/>
            <a:ext cx="54864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532120" y="3145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Lens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34564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Visualisation drag-and-drop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49240" y="3895344"/>
            <a:ext cx="3474720" cy="713232"/>
          </a:xfrm>
          <a:prstGeom prst="rect">
            <a:avLst/>
          </a:prstGeom>
          <a:solidFill>
            <a:srgbClr val="161B22"/>
          </a:solidFill>
          <a:ln w="9525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349240" y="3895344"/>
            <a:ext cx="54864" cy="71323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532120" y="39867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A043"/>
                </a:solidFill>
              </a:rPr>
              <a:t>Dashboards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32120" y="4297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Top anime, répartition par genre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10"/>
          </a:solidFill>
          <a:ln w="12700">
            <a:solidFill>
              <a:srgbClr val="050F1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B4D8"/>
                </a:solidFill>
              </a:rPr>
              <a:t>SESSION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6FC"/>
                </a:solidFill>
              </a:rPr>
              <a:t>Introduction à Apache Airflow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6FC"/>
                </a:solidFill>
              </a:rPr>
              <a:t>&amp; Premier DAG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</a:rPr>
              <a:t>Orchestration de pipelines — concepts fondamentaux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560320" cy="320040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4D8"/>
                </a:solidFill>
              </a:rPr>
              <a:t>Mercredi 25/03 — AM  ·  3h30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9184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E7681"/>
                </a:solidFill>
              </a:rPr>
              <a:t>ETL &amp; PIPELINES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kern="0" spc="200" dirty="0">
                <a:solidFill>
                  <a:srgbClr val="00B4D8"/>
                </a:solidFill>
              </a:rPr>
              <a:t>ETL &amp; PIPELINES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E7681"/>
                </a:solidFill>
              </a:rPr>
              <a:t>Session 4 · Mercredi 25/03 AM · 09h00–12h30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</a:rPr>
              <a:t>Concepts Airflow fondamentaux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DAG · Task · Operator · XCom · Scheduler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411480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1536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Directed Acyclic Graph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9385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Graphe orienté sans cycle définissant l'ordre d'exécution des tâches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11480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54864" cy="107899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00600" y="1463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A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1536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Unité de travail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9385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Instance d'un Operator. Chaque tâche = une étape du pipeline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578608"/>
            <a:ext cx="411480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2578608"/>
            <a:ext cx="54864" cy="10789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2670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Template de tâche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1455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PythonOperator · BashOperator · EmailOperator · S3Operator...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578608"/>
            <a:ext cx="411480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663440" y="2578608"/>
            <a:ext cx="54864" cy="10789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00600" y="2670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XCom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504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Cross-Communication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1455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Mécanisme de passage de données entre tâches via ti.xcom_push/pull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785616"/>
            <a:ext cx="411480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0040" y="3785616"/>
            <a:ext cx="54864" cy="10789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38770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91640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Ordonnanceur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35254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Déclenche les DAGs selon le schedule_interval (@daily, @weekly, cron)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3785616"/>
            <a:ext cx="411480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663440" y="3785616"/>
            <a:ext cx="54864" cy="10789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800600" y="38770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Executor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35040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Moteur d'exécution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435254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LocalExecutor · CeleryExecutor · KubernetesExecutor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kern="0" spc="200" dirty="0">
                <a:solidFill>
                  <a:srgbClr val="00B4D8"/>
                </a:solidFill>
              </a:rPr>
              <a:t>ETL &amp; PIPELINES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E7681"/>
                </a:solidFill>
              </a:rPr>
              <a:t>Session 4 · Structure du DAG anime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</a:rPr>
              <a:t>Notre DAG — anime_data_pipeline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5 tâches séquentielles avec gestion d'erreurs intégrée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13716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1947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</a:rPr>
              <a:t>Audit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167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audit_data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691640" y="2125980"/>
            <a:ext cx="27432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828800" y="203454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▶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65960" y="1874520"/>
            <a:ext cx="13716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965960" y="1947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A043"/>
                </a:solidFill>
              </a:rPr>
              <a:t>Clean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2167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clean_data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337560" y="2125980"/>
            <a:ext cx="27432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474720" y="203454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▶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11880" y="1874520"/>
            <a:ext cx="13716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611880" y="1947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Enrich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2167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enrich_data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983480" y="2125980"/>
            <a:ext cx="27432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120640" y="203454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257800" y="1874520"/>
            <a:ext cx="13716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257800" y="1947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</a:rPr>
              <a:t>Export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2167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export_json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629400" y="2125980"/>
            <a:ext cx="27432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766560" y="203454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▶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903720" y="1874520"/>
            <a:ext cx="137160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903720" y="1947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</a:rPr>
              <a:t>Validate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21671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20040" y="2651760"/>
            <a:ext cx="4206240" cy="2240280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0040" y="2651760"/>
            <a:ext cx="54864" cy="2240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02920" y="278892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default_args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{
</a:t>
            </a: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"retries": </a:t>
            </a: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
</a:t>
            </a: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"retry_delay": </a:t>
            </a:r>
            <a:r>
              <a:rPr lang="en-US" sz="1050" dirty="0">
                <a:solidFill>
                  <a:srgbClr val="2EA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timedelta(minutes=5),
</a:t>
            </a: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"email_on_failure": </a:t>
            </a: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True,
</a:t>
            </a: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"schedule_interval": </a:t>
            </a: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"@weekly"
</a:t>
            </a: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651760"/>
            <a:ext cx="4114800" cy="2240280"/>
          </a:xfrm>
          <a:prstGeom prst="rect">
            <a:avLst/>
          </a:prstGeom>
          <a:solidFill>
            <a:srgbClr val="161B22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709160" y="2651760"/>
            <a:ext cx="54864" cy="2240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4632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Passage de données via XCom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5CF6"/>
                </a:solidFill>
              </a:rPr>
              <a:t>▸ </a:t>
            </a:r>
            <a:r>
              <a:rPr lang="en-US" sz="950" dirty="0">
                <a:solidFill>
                  <a:srgbClr val="8B949E"/>
                </a:solidFill>
              </a:rPr>
              <a:t>audit_report → clean → enrich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0" y="35753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5CF6"/>
                </a:solidFill>
              </a:rPr>
              <a:t>▸ </a:t>
            </a:r>
            <a:r>
              <a:rPr lang="en-US" sz="950" dirty="0">
                <a:solidFill>
                  <a:srgbClr val="8B949E"/>
                </a:solidFill>
              </a:rPr>
              <a:t>clean_counts → monitoring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39959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5CF6"/>
                </a:solidFill>
              </a:rPr>
              <a:t>▸ </a:t>
            </a:r>
            <a:r>
              <a:rPr lang="en-US" sz="950" dirty="0">
                <a:solidFill>
                  <a:srgbClr val="8B949E"/>
                </a:solidFill>
              </a:rPr>
              <a:t>export_manifest → validate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46320" y="4416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5CF6"/>
                </a:solidFill>
              </a:rPr>
              <a:t>▸ </a:t>
            </a:r>
            <a:r>
              <a:rPr lang="en-US" sz="950" dirty="0">
                <a:solidFill>
                  <a:srgbClr val="8B949E"/>
                </a:solidFill>
              </a:rPr>
              <a:t>validation_status → alerting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10"/>
          </a:solidFill>
          <a:ln w="12700">
            <a:solidFill>
              <a:srgbClr val="050F1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B4D8"/>
                </a:solidFill>
              </a:rPr>
              <a:t>SESSION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6FC"/>
                </a:solidFill>
              </a:rPr>
              <a:t>Pipeline Extract :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6FC"/>
                </a:solidFill>
              </a:rPr>
              <a:t>Lecture Multi-fichiers &amp; Validation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</a:rPr>
              <a:t>Chargement robuste des sources CSV avec contrôles d'intégrité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560320" cy="320040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4D8"/>
                </a:solidFill>
              </a:rPr>
              <a:t>Mercredi 25/03 — PM  ·  3h30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9184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E7681"/>
                </a:solidFill>
              </a:rPr>
              <a:t>ETL &amp; PIPELINES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kern="0" spc="200" dirty="0">
                <a:solidFill>
                  <a:srgbClr val="00B4D8"/>
                </a:solidFill>
              </a:rPr>
              <a:t>ETL &amp; PIPELINES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E7681"/>
                </a:solidFill>
              </a:rPr>
              <a:t>Session 5 · Mercredi 25/03 PM · 13h30–17h00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</a:rPr>
              <a:t>Stratégie Extract — 3 étapes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Vérification → Chargement → Métriques qualité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850392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417320"/>
            <a:ext cx="54864" cy="10789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61"/>
                </a:solidFill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1508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Vérification d'existence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8745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Contrôle avant lecture. Lève une exception immédiate si un fichier source manque — les retries Airflow prennent le relai.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23360" y="1527048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AD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path.exists():</a:t>
            </a: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AD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FileNotFoundError(</a:t>
            </a: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AD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f"Manquant: {path}")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633472"/>
            <a:ext cx="850392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2633472"/>
            <a:ext cx="54864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0292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27249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Chargement &amp; métriques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0906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Chargement Pandas avec profiling automatique. Chaque CSV produit un rapport de qualité poussé en XCom.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23360" y="2743200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AD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pd.read_csv(path, low_memory=False)</a:t>
            </a: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AD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null_pct = df.isnull().mean() * 100</a:t>
            </a: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AD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dup_count = df.duplicated().sum()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849624"/>
            <a:ext cx="8503920" cy="1078992"/>
          </a:xfrm>
          <a:prstGeom prst="rect">
            <a:avLst/>
          </a:prstGeom>
          <a:solidFill>
            <a:srgbClr val="161B22"/>
          </a:solidFill>
          <a:ln w="9525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20040" y="3849624"/>
            <a:ext cx="54864" cy="1078992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4078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A043"/>
                </a:solidFill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" y="3941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Alertes non-bloquantes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30682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Les anomalies sont loggées et transmises via XCom mais ne bloquent pas le pipeline. Seuils configurables.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023360" y="3959352"/>
            <a:ext cx="4663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AD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null_pct &gt; 50:</a:t>
            </a: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AD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alerts.append(f"{col}: {pct}%")</a:t>
            </a:r>
            <a:endParaRPr lang="en-US" sz="8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850" dirty="0">
                <a:solidFill>
                  <a:srgbClr val="ADE8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ti.xcom_push("alerts", alerts)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90F"/>
          </a:solidFill>
          <a:ln w="12700">
            <a:solidFill>
              <a:srgbClr val="05090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77B6"/>
                </a:solidFill>
              </a:rPr>
              <a:t>SESSION 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6FC"/>
                </a:solidFill>
              </a:rPr>
              <a:t>Pipeline Transform :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6FC"/>
                </a:solidFill>
              </a:rPr>
              <a:t>Nettoyage &amp; Feature Engineering Auto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</a:rPr>
              <a:t>Automatisation des transformations dans le DAG Airflow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560320" cy="320040"/>
          </a:xfrm>
          <a:prstGeom prst="rect">
            <a:avLst/>
          </a:prstGeom>
          <a:solidFill>
            <a:srgbClr val="161B22"/>
          </a:solidFill>
          <a:ln w="9525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77B6"/>
                </a:solidFill>
              </a:rPr>
              <a:t>Jeudi 26/03 — AM  ·  3h30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9184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E7681"/>
                </a:solidFill>
              </a:rPr>
              <a:t>ETL &amp; PIPELINES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0077B6">
              <a:alpha val="10000"/>
            </a:srgbClr>
          </a:solidFill>
          <a:ln w="12700">
            <a:solidFill>
              <a:srgbClr val="0077B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kern="0" spc="200" dirty="0">
                <a:solidFill>
                  <a:srgbClr val="0077B6"/>
                </a:solidFill>
              </a:rPr>
              <a:t>ETL &amp; PIPELINES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E7681"/>
                </a:solidFill>
              </a:rPr>
              <a:t>Session 6 · Jeudi 26/03 AM · 09h00–12h30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</a:rPr>
              <a:t>Transformations automatisées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Du Parquet brut au dataset enrichi prêt à indexer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100584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949E"/>
                </a:solidFill>
              </a:rPr>
              <a:t>Parquet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8B949E"/>
                </a:solidFill>
              </a:rPr>
              <a:t>brut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71600" y="1623060"/>
            <a:ext cx="36576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737360" y="1325880"/>
            <a:ext cx="118872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737360" y="1417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A043"/>
                </a:solidFill>
              </a:rPr>
              <a:t>Clean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EA043"/>
                </a:solidFill>
              </a:rPr>
              <a:t>task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0" y="1623060"/>
            <a:ext cx="36576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91840" y="1325880"/>
            <a:ext cx="118872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91840" y="1417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</a:rPr>
              <a:t>Enrich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</a:rPr>
              <a:t>task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1623060"/>
            <a:ext cx="36576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846320" y="1325880"/>
            <a:ext cx="1097280" cy="594360"/>
          </a:xfrm>
          <a:prstGeom prst="rect">
            <a:avLst/>
          </a:prstGeom>
          <a:solidFill>
            <a:srgbClr val="161B22"/>
          </a:solidFill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46320" y="1417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77B6"/>
                </a:solidFill>
              </a:rPr>
              <a:t>Parquet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77B6"/>
                </a:solidFill>
              </a:rPr>
              <a:t>enrichi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240280"/>
            <a:ext cx="8503920" cy="1207008"/>
          </a:xfrm>
          <a:prstGeom prst="rect">
            <a:avLst/>
          </a:prstGeom>
          <a:solidFill>
            <a:srgbClr val="161B22"/>
          </a:solidFill>
          <a:ln w="9525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2240280"/>
            <a:ext cx="54864" cy="120700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02920" y="2350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A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clean_data()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80360" y="2331720"/>
            <a:ext cx="5806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2EA043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anime.csv : dédup + strip noms + genres → liste + typage numeric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2EA043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synopsis.csv : rename MAL_ID, nettoyage texte vide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2EA043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rating.csv : suppression -1, clip[1-10], dédup user×anime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2EA043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Sauvegarde en Parquet (préserve les listes Python)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611880"/>
            <a:ext cx="8503920" cy="1207008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3611880"/>
            <a:ext cx="54864" cy="1207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0292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enrich_data()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80360" y="3703320"/>
            <a:ext cx="5806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Jointure anime ← synopsis (left merge sur anime_id)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Agrégation ratings : mean / count / std par anime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Calcul quality_score (formule composite pondérée)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00B4D8"/>
                </a:solidFill>
              </a:rPr>
              <a:t>→ </a:t>
            </a:r>
            <a:r>
              <a:rPr lang="en-US" sz="950" dirty="0">
                <a:solidFill>
                  <a:srgbClr val="8B949E"/>
                </a:solidFill>
              </a:rPr>
              <a:t>popularity_tier, tags, has_synopsis → nouvelles colonnes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50A"/>
          </a:solidFill>
          <a:ln w="12700">
            <a:solidFill>
              <a:srgbClr val="1005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F87171"/>
                </a:solidFill>
              </a:rPr>
              <a:t>SESSION 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6FC"/>
                </a:solidFill>
              </a:rPr>
              <a:t>Pipeline Load :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6FC"/>
                </a:solidFill>
              </a:rPr>
              <a:t>Indexation Elasticsearch &amp; Monitoring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</a:rPr>
              <a:t>Export JSON, indexation et validation de bout en bout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560320" cy="320040"/>
          </a:xfrm>
          <a:prstGeom prst="rect">
            <a:avLst/>
          </a:prstGeom>
          <a:solidFill>
            <a:srgbClr val="161B22"/>
          </a:solidFill>
          <a:ln w="9525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87171"/>
                </a:solidFill>
              </a:rPr>
              <a:t>Jeudi 26/03 — PM  ·  3h30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9184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E7681"/>
                </a:solidFill>
              </a:rPr>
              <a:t>ETL &amp; PIPELINES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F87171">
              <a:alpha val="10000"/>
            </a:srgbClr>
          </a:solidFill>
          <a:ln w="12700">
            <a:solidFill>
              <a:srgbClr val="F8717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kern="0" spc="200" dirty="0">
                <a:solidFill>
                  <a:srgbClr val="F87171"/>
                </a:solidFill>
              </a:rPr>
              <a:t>ETL &amp; PIPELINES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E7681"/>
                </a:solidFill>
              </a:rPr>
              <a:t>Session 7 · Jeudi 26/03 PM · 13h30–17h00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</a:rPr>
              <a:t>Export JSON — 3 fichiers + manifeste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Chaque fichier répond à un usage précis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850392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anime_full.json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7681"/>
                </a:solidFill>
              </a:rPr>
              <a:t>~18 MB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15727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Dataset complet avec timestamp. Import BDD, API REST, batch processing.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295144"/>
            <a:ext cx="850392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" y="2295144"/>
            <a:ext cx="54864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02920" y="2386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anime_top100.json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770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7681"/>
                </a:solidFill>
              </a:rPr>
              <a:t>~150 KB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249631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Top 100 par quality_score. Page d'accueil, widgets, recommandations rapides.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18688"/>
            <a:ext cx="850392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3218688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0292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anime_by_genre.json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694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7681"/>
                </a:solidFill>
              </a:rPr>
              <a:t>~2 MB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341985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Index genre → liste d'anime triée. Filtres, navigation, recommandations par catégorie.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142232"/>
            <a:ext cx="850392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4142232"/>
            <a:ext cx="54864" cy="80467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02920" y="4233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export_manifest.json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617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7681"/>
                </a:solidFill>
              </a:rPr>
              <a:t>~2 KB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43434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</a:rPr>
              <a:t>Tailles de fichiers, stats clés, run_id Airflow. Monitoring et audit pipeline.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943600" y="731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kern="0" spc="200" dirty="0">
                <a:solidFill>
                  <a:srgbClr val="F87171"/>
                </a:solidFill>
              </a:rPr>
              <a:t>ETL &amp; PIPELINES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6E7681"/>
                </a:solidFill>
              </a:rPr>
              <a:t>Session 7 · Monitoring &amp; validation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11480" y="320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C"/>
                </a:solidFill>
              </a:rPr>
              <a:t>Validation post-export &amp; Monitoring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</a:rPr>
              <a:t>3 niveaux de contrôle qualité de bout en bout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8503920" cy="1115568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54864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B4D8"/>
                </a:solidFill>
              </a:rPr>
              <a:t>NIVEAU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Retries automatiques Airflow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1463040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00B4D8"/>
                </a:solidFill>
              </a:rPr>
              <a:t>✓  </a:t>
            </a:r>
            <a:r>
              <a:rPr lang="en-US" sz="1050" dirty="0">
                <a:solidFill>
                  <a:srgbClr val="8B949E"/>
                </a:solidFill>
              </a:rPr>
              <a:t>2 retries avec délai de 5 min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00B4D8"/>
                </a:solidFill>
              </a:rPr>
              <a:t>✓  </a:t>
            </a:r>
            <a:r>
              <a:rPr lang="en-US" sz="1050" dirty="0">
                <a:solidFill>
                  <a:srgbClr val="8B949E"/>
                </a:solidFill>
              </a:rPr>
              <a:t>Email sur failure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00B4D8"/>
                </a:solidFill>
              </a:rPr>
              <a:t>✓  </a:t>
            </a:r>
            <a:r>
              <a:rPr lang="en-US" sz="1050" dirty="0">
                <a:solidFill>
                  <a:srgbClr val="8B949E"/>
                </a:solidFill>
              </a:rPr>
              <a:t>Logs centralisés dans l'UI Airflow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8503920" cy="1115568"/>
          </a:xfrm>
          <a:prstGeom prst="rect">
            <a:avLst/>
          </a:prstGeom>
          <a:solidFill>
            <a:srgbClr val="161B22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" y="2606040"/>
            <a:ext cx="54864" cy="11155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02920" y="2697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4A261"/>
                </a:solidFill>
              </a:rPr>
              <a:t>NIVEAU 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2920" y="2926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Exceptions métier explicites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2697480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F4A261"/>
                </a:solidFill>
              </a:rPr>
              <a:t>✓  </a:t>
            </a:r>
            <a:r>
              <a:rPr lang="en-US" sz="1050" dirty="0">
                <a:solidFill>
                  <a:srgbClr val="8B949E"/>
                </a:solidFill>
              </a:rPr>
              <a:t>FileNotFoundError si CSV source manquant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F4A261"/>
                </a:solidFill>
              </a:rPr>
              <a:t>✓  </a:t>
            </a:r>
            <a:r>
              <a:rPr lang="en-US" sz="1050" dirty="0">
                <a:solidFill>
                  <a:srgbClr val="8B949E"/>
                </a:solidFill>
              </a:rPr>
              <a:t>ValueError si fichier JSON trop petit (&lt;100 octets)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F4A261"/>
                </a:solidFill>
              </a:rPr>
              <a:t>✓  </a:t>
            </a:r>
            <a:r>
              <a:rPr lang="en-US" sz="1050" dirty="0">
                <a:solidFill>
                  <a:srgbClr val="8B949E"/>
                </a:solidFill>
              </a:rPr>
              <a:t>JSONDecodeError si sérialisation corrompue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840480"/>
            <a:ext cx="8503920" cy="1115568"/>
          </a:xfrm>
          <a:prstGeom prst="rect">
            <a:avLst/>
          </a:prstGeom>
          <a:solidFill>
            <a:srgbClr val="161B22"/>
          </a:solidFill>
          <a:ln w="9525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3840480"/>
            <a:ext cx="54864" cy="11155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02920" y="3931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87171"/>
                </a:solidFill>
              </a:rPr>
              <a:t>NIVEAU 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</a:rPr>
              <a:t>Tâche validate_output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63240" y="3931920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F87171"/>
                </a:solidFill>
              </a:rPr>
              <a:t>✓  </a:t>
            </a:r>
            <a:r>
              <a:rPr lang="en-US" sz="1050" dirty="0">
                <a:solidFill>
                  <a:srgbClr val="8B949E"/>
                </a:solidFill>
              </a:rPr>
              <a:t>Vérifie existence et intégrité de tous les exports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F87171"/>
                </a:solidFill>
              </a:rPr>
              <a:t>✓  </a:t>
            </a:r>
            <a:r>
              <a:rPr lang="en-US" sz="1050" dirty="0">
                <a:solidFill>
                  <a:srgbClr val="8B949E"/>
                </a:solidFill>
              </a:rPr>
              <a:t>Contrôle logique : anime_top100 = exactement 100 entrées</a:t>
            </a:r>
            <a:endParaRPr lang="en-US" sz="10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F87171"/>
                </a:solidFill>
              </a:rPr>
              <a:t>✓  </a:t>
            </a:r>
            <a:r>
              <a:rPr lang="en-US" sz="1050" dirty="0">
                <a:solidFill>
                  <a:srgbClr val="8B949E"/>
                </a:solidFill>
              </a:rPr>
              <a:t>Rapport XCom : validation_status = 'passed'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00B4D8"/>
                </a:solidFill>
              </a:rPr>
              <a:t>RÉCAPITULATIF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0F6FC"/>
                </a:solidFill>
              </a:rPr>
              <a:t>Ce qu'on a construit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0F6FC"/>
                </a:solidFill>
              </a:rPr>
              <a:t>ensemble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724912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54864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A261"/>
                </a:solidFill>
              </a:rPr>
              <a:t>Audit complet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8620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Qualité, doublons, cohérence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73552" y="2331720"/>
            <a:ext cx="2724912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73552" y="2331720"/>
            <a:ext cx="54864" cy="1051560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10712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A043"/>
                </a:solidFill>
              </a:rPr>
              <a:t>Nettoyage robuste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10712" y="28620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3 CSV → Parquet normalisés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81344" y="2331720"/>
            <a:ext cx="2724912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181344" y="2331720"/>
            <a:ext cx="54864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18504" y="2468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</a:rPr>
              <a:t>Feature Engineering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18504" y="28620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quality_score, tiers, tags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2724912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54864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0292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</a:rPr>
              <a:t>ELK Stack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40965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Index Elasticsearch + Kibana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73552" y="3566160"/>
            <a:ext cx="2724912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73552" y="3566160"/>
            <a:ext cx="54864" cy="10515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410712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7B6"/>
                </a:solidFill>
              </a:rPr>
              <a:t>DAG Airflow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10712" y="40965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5 tâches + retry + monitoring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81344" y="3566160"/>
            <a:ext cx="2724912" cy="1051560"/>
          </a:xfrm>
          <a:prstGeom prst="rect">
            <a:avLst/>
          </a:prstGeom>
          <a:solidFill>
            <a:srgbClr val="161B22"/>
          </a:solidFill>
          <a:ln w="9525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181344" y="3566160"/>
            <a:ext cx="54864" cy="10515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318504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7171"/>
                </a:solidFill>
              </a:rPr>
              <a:t>Validation end-to-end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18504" y="40965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49E"/>
                </a:solidFill>
              </a:rPr>
              <a:t>3 niveaux de contrôle qualité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5079492"/>
            <a:ext cx="1306286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1306286" y="5079492"/>
            <a:ext cx="1306286" cy="64008"/>
          </a:xfrm>
          <a:prstGeom prst="rect">
            <a:avLst/>
          </a:prstGeom>
          <a:solidFill>
            <a:srgbClr val="2EA043"/>
          </a:solidFill>
          <a:ln w="12700">
            <a:solidFill>
              <a:srgbClr val="2EA0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612571" y="5079492"/>
            <a:ext cx="1306286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918857" y="5079492"/>
            <a:ext cx="1306286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5225143" y="5079492"/>
            <a:ext cx="1306286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531429" y="5079492"/>
            <a:ext cx="1306286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7837714" y="5079492"/>
            <a:ext cx="1306286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2056</Words>
  <Application>Microsoft Office PowerPoint</Application>
  <PresentationFormat>Affichage à l'écran (16:9)</PresentationFormat>
  <Paragraphs>386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6" baseType="lpstr">
      <vt:lpstr>Arial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Data Pipeline — Du CSV à Elasticsearch</dc:title>
  <dc:subject>PptxGenJS Presentation</dc:subject>
  <dc:creator>Data Team</dc:creator>
  <cp:lastModifiedBy>Erwann Gao</cp:lastModifiedBy>
  <cp:revision>1</cp:revision>
  <dcterms:created xsi:type="dcterms:W3CDTF">2026-03-27T09:40:16Z</dcterms:created>
  <dcterms:modified xsi:type="dcterms:W3CDTF">2026-03-27T13:56:56Z</dcterms:modified>
</cp:coreProperties>
</file>